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72" r:id="rId8"/>
    <p:sldId id="259" r:id="rId9"/>
    <p:sldId id="275" r:id="rId10"/>
    <p:sldId id="260" r:id="rId11"/>
    <p:sldId id="261" r:id="rId12"/>
    <p:sldId id="262" r:id="rId13"/>
    <p:sldId id="276" r:id="rId14"/>
    <p:sldId id="263" r:id="rId15"/>
    <p:sldId id="264" r:id="rId16"/>
    <p:sldId id="265" r:id="rId17"/>
    <p:sldId id="266" r:id="rId18"/>
    <p:sldId id="267" r:id="rId19"/>
    <p:sldId id="268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69" r:id="rId28"/>
    <p:sldId id="270" r:id="rId29"/>
  </p:sldIdLst>
  <p:sldSz cx="9144000" cy="5143500"/>
  <p:notesSz cx="5143500" cy="9144000"/>
  <p:embeddedFontLst>
    <p:embeddedFont>
      <p:font typeface="黑体" panose="02010609060101010101" pitchFamily="34" charset="-122"/>
      <p:regular r:id="rId33"/>
    </p:embeddedFont>
    <p:embeddedFont>
      <p:font typeface="黑体" panose="02010609060101010101" pitchFamily="34" charset="-120"/>
      <p:regular r:id="rId34"/>
    </p:embeddedFont>
    <p:embeddedFont>
      <p:font typeface="微软雅黑" pitchFamily="34" charset="-122"/>
      <p:regular r:id="rId35"/>
    </p:embeddedFont>
    <p:embeddedFont>
      <p:font typeface="微软雅黑" pitchFamily="34" charset="-120"/>
      <p:regular r:id="rId36"/>
    </p:embeddedFont>
    <p:embeddedFont>
      <p:font typeface="Consolas" panose="020B0609020204030204" pitchFamily="34" charset="0"/>
      <p:regular r:id="rId37"/>
    </p:embeddedFont>
    <p:embeddedFont>
      <p:font typeface="Consolas" panose="020B0609020204030204" pitchFamily="34" charset="-122"/>
      <p:regular r:id="rId38"/>
    </p:embeddedFont>
    <p:embeddedFont>
      <p:font typeface="Consolas" panose="020B0609020204030204" pitchFamily="34" charset="-120"/>
      <p:regular r:id="rId39"/>
    </p:embeddedFont>
    <p:embeddedFont>
      <p:font typeface="Calibri" panose="020F0502020204030204" charset="0"/>
      <p:regular r:id="rId4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0" Type="http://schemas.openxmlformats.org/officeDocument/2006/relationships/font" Target="fonts/font8.fntdata"/><Relationship Id="rId4" Type="http://schemas.openxmlformats.org/officeDocument/2006/relationships/slide" Target="slides/slide1.xml"/><Relationship Id="rId39" Type="http://schemas.openxmlformats.org/officeDocument/2006/relationships/font" Target="fonts/font7.fntdata"/><Relationship Id="rId38" Type="http://schemas.openxmlformats.org/officeDocument/2006/relationships/font" Target="fonts/font6.fntdata"/><Relationship Id="rId37" Type="http://schemas.openxmlformats.org/officeDocument/2006/relationships/font" Target="fonts/font5.fntdata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25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7.png"/><Relationship Id="rId1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3.png"/><Relationship Id="rId3" Type="http://schemas.openxmlformats.org/officeDocument/2006/relationships/tags" Target="../tags/tag3.xml"/><Relationship Id="rId2" Type="http://schemas.openxmlformats.org/officeDocument/2006/relationships/image" Target="../media/image42.png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tags" Target="../tags/tag5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tags" Target="../tags/tag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tags" Target="../tags/tag8.xml"/><Relationship Id="rId4" Type="http://schemas.openxmlformats.org/officeDocument/2006/relationships/image" Target="../media/image48.png"/><Relationship Id="rId3" Type="http://schemas.openxmlformats.org/officeDocument/2006/relationships/tags" Target="../tags/tag7.xml"/><Relationship Id="rId2" Type="http://schemas.openxmlformats.org/officeDocument/2006/relationships/image" Target="../media/image47.png"/><Relationship Id="rId1" Type="http://schemas.openxmlformats.org/officeDocument/2006/relationships/tags" Target="../tags/tag6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1.png"/><Relationship Id="rId3" Type="http://schemas.openxmlformats.org/officeDocument/2006/relationships/tags" Target="../tags/tag10.xml"/><Relationship Id="rId2" Type="http://schemas.openxmlformats.org/officeDocument/2006/relationships/image" Target="../media/image50.png"/><Relationship Id="rId1" Type="http://schemas.openxmlformats.org/officeDocument/2006/relationships/tags" Target="../tags/tag9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3.png"/><Relationship Id="rId3" Type="http://schemas.openxmlformats.org/officeDocument/2006/relationships/tags" Target="../tags/tag12.xml"/><Relationship Id="rId2" Type="http://schemas.openxmlformats.org/officeDocument/2006/relationships/image" Target="../media/image52.png"/><Relationship Id="rId1" Type="http://schemas.openxmlformats.org/officeDocument/2006/relationships/tags" Target="../tags/tag11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5.png"/><Relationship Id="rId3" Type="http://schemas.openxmlformats.org/officeDocument/2006/relationships/tags" Target="../tags/tag14.xml"/><Relationship Id="rId2" Type="http://schemas.openxmlformats.org/officeDocument/2006/relationships/image" Target="../media/image54.png"/><Relationship Id="rId1" Type="http://schemas.openxmlformats.org/officeDocument/2006/relationships/tags" Target="../tags/tag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智算融合网络流量识别与预测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4A9AE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机制设计与实现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7094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E2E8F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中期答辩报告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777240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5468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A9AE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核心技术：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VFL · CNN-LSTM · WOA · PrivBox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4A9AE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数据集：  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KDD Cup 99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956048"/>
            <a:ext cx="8229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2026 年 · 中期答辩</a:t>
            </a:r>
            <a:endParaRPr lang="en-US" sz="1000" dirty="0"/>
          </a:p>
        </p:txBody>
      </p:sp>
      <p:sp>
        <p:nvSpPr>
          <p:cNvPr id="11" name="Text 4"/>
          <p:cNvSpPr/>
          <p:nvPr/>
        </p:nvSpPr>
        <p:spPr>
          <a:xfrm>
            <a:off x="6476365" y="2508885"/>
            <a:ext cx="215328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E2E8F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答辩人</a:t>
            </a:r>
            <a:r>
              <a:rPr lang="en-US" altLang="zh-CN" sz="2000" dirty="0">
                <a:solidFill>
                  <a:srgbClr val="E2E8F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zh-CN" altLang="en-US" sz="2000" dirty="0">
                <a:solidFill>
                  <a:srgbClr val="E2E8F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李元龙</a:t>
            </a:r>
            <a:endParaRPr lang="zh-CN" altLang="en-US" sz="2000" dirty="0">
              <a:solidFill>
                <a:srgbClr val="E2E8F0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476365" y="3221990"/>
            <a:ext cx="239077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E2E8F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指导老师</a:t>
            </a:r>
            <a:r>
              <a:rPr lang="en-US" altLang="zh-CN" sz="2000" dirty="0">
                <a:solidFill>
                  <a:srgbClr val="E2E8F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zh-CN" altLang="en-US" sz="2000" dirty="0">
                <a:solidFill>
                  <a:srgbClr val="E2E8F0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高德云</a:t>
            </a:r>
            <a:endParaRPr lang="zh-CN" altLang="en-US" sz="2000" dirty="0">
              <a:solidFill>
                <a:srgbClr val="E2E8F0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02920" cy="4114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868680"/>
            <a:ext cx="7772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86868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研究背景与问题陈述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502920" cy="4114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44752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1444752"/>
            <a:ext cx="7772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1444752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相关工作综述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020824"/>
            <a:ext cx="502920" cy="4114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020824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2020824"/>
            <a:ext cx="7772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2020824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系统整体架构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596896"/>
            <a:ext cx="502920" cy="4114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596896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2596896"/>
            <a:ext cx="7772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43000" y="2596896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核心算法与公式推导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172968"/>
            <a:ext cx="502920" cy="4114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172968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05840" y="3172968"/>
            <a:ext cx="7772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43000" y="3172968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核心代码实现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502920" cy="4114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749040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05840" y="3749040"/>
            <a:ext cx="7772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143000" y="374904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实验设计与结果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325112"/>
            <a:ext cx="502920" cy="4114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4325112"/>
            <a:ext cx="502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05840" y="4325112"/>
            <a:ext cx="7772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43000" y="4325112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当前进展与计划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01  研究背景与问题陈述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04672"/>
            <a:ext cx="4114800" cy="347472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核心挑战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🔴  流量高维稀疏：KDD99 含 41 维特征，手工提取耗时且易漏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31619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🔴  时空特征耦合：流量同时具有空间分布和时序依赖特性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28163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🔴  数据隐私壁垒：多机构数据无法集中，形成信息孤岛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648456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🔴  实时性要求高：检测延迟需控制在毫秒级才具实用价值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80467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研究动机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234440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✅  CNN 擅长提取空间局部相关特征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837944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✅  LSTM 捕获流量时序长期依赖关系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441448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✅  WOA 全局优化超参数，避免局部最优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044952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✅  VFL 允许数据不离本地，联合建模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648456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✅  PrivBox 差分隐私+秘密共享双重保护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01  研究背景与问题陈述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545"/>
            <a:ext cx="4111625" cy="35312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04672"/>
            <a:ext cx="4114800" cy="347472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SDN</a:t>
            </a:r>
            <a:r>
              <a:rPr lang="zh-CN" alt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网络拓扑</a:t>
            </a:r>
            <a:r>
              <a:rPr lang="zh-CN" alt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架构图</a:t>
            </a:r>
            <a:endParaRPr lang="zh-CN" altLang="en-US" sz="13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流量</a:t>
            </a:r>
            <a:r>
              <a:rPr lang="zh-CN" alt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分布饼图</a:t>
            </a:r>
            <a:endParaRPr lang="zh-CN" altLang="en-US" sz="13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4754880" y="1151890"/>
            <a:ext cx="4114800" cy="3147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图片 7" descr="流量分布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51890"/>
            <a:ext cx="4115435" cy="3193415"/>
          </a:xfrm>
          <a:prstGeom prst="rect">
            <a:avLst/>
          </a:prstGeom>
        </p:spPr>
      </p:pic>
      <p:pic>
        <p:nvPicPr>
          <p:cNvPr id="10" name="图片 9" descr="拓扑图.drawi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202690"/>
            <a:ext cx="3261360" cy="30962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02  相关工作综述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11480" y="804672"/>
          <a:ext cx="8412480" cy="27432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280160"/>
                <a:gridCol w="1188720"/>
                <a:gridCol w="320040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方法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来源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数据集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性能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主要贡献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CNN-IDS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贾凡等 2017</a:t>
                      </a:r>
                      <a:endParaRPr lang="en-US" sz="10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KDD99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92.18%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首次将 CNN 用于 IDS，局部特征提取能力优于 BP/SVM</a:t>
                      </a:r>
                      <a:endParaRPr lang="en-US" sz="10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深度CNN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丁红卫等 2019</a:t>
                      </a:r>
                      <a:endParaRPr lang="en-US" sz="10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KDD99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99.47%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将流量数据图像化为 11×11 矩阵再送入 CNN</a:t>
                      </a:r>
                      <a:endParaRPr lang="en-US" sz="10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FL-CNN-LSTM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王立红等 2025</a:t>
                      </a:r>
                      <a:endParaRPr lang="en-US" sz="10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CIC-IDS2018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99.00%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联邦学习 + 并联 CNN-LSTM + 多头注意力机制</a:t>
                      </a:r>
                      <a:endParaRPr lang="en-US" sz="10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WOA-CNN-LSTM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杨桂芹等 2025</a:t>
                      </a:r>
                      <a:endParaRPr lang="en-US" sz="10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UNB ISCX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MAE↓80.91%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WOA 优化超参数，SDN 流量预测，时空特征融合</a:t>
                      </a:r>
                      <a:endParaRPr lang="en-US" sz="10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3703320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本研究创新点：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400507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① VFL 垂直切分特征 + PrivBox 隐私保护  </a:t>
            </a:r>
            <a:r>
              <a:rPr lang="en-US" sz="1200" b="1" dirty="0">
                <a:solidFill>
                  <a:srgbClr val="0D7377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② WOA 自动优化 CNN-LSTM 超参数  </a:t>
            </a:r>
            <a:r>
              <a:rPr lang="en-US" sz="1200" b="1" dirty="0">
                <a:solidFill>
                  <a:srgbClr val="0D7377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③ 实时流量捕获 + 混合检测策略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03  系统整体架构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128016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04672"/>
            <a:ext cx="1280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804672"/>
            <a:ext cx="7040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74520" y="804672"/>
            <a:ext cx="67665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KDD Cup 99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实时流量捕获 (Scapy) · 特征提取 · SMOTE过采样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51560" y="1490472"/>
            <a:ext cx="0" cy="118872"/>
          </a:xfrm>
          <a:prstGeom prst="line">
            <a:avLst/>
          </a:prstGeom>
          <a:noFill/>
          <a:ln w="25400">
            <a:solidFill>
              <a:srgbClr val="14A9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609344"/>
            <a:ext cx="1280160" cy="6858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609344"/>
            <a:ext cx="1280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模型层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37360" y="1609344"/>
            <a:ext cx="7040880" cy="685800"/>
          </a:xfrm>
          <a:prstGeom prst="rect">
            <a:avLst/>
          </a:prstGeom>
          <a:solidFill>
            <a:srgbClr val="EE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74520" y="1609344"/>
            <a:ext cx="67665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CNN 空间特征提取 → LSTM 时序建模 → 特征融合 → WOA 超参优化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51560" y="2295144"/>
            <a:ext cx="0" cy="118872"/>
          </a:xfrm>
          <a:prstGeom prst="line">
            <a:avLst/>
          </a:prstGeom>
          <a:noFill/>
          <a:ln w="25400">
            <a:solidFill>
              <a:srgbClr val="14A9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414016"/>
            <a:ext cx="128016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414016"/>
            <a:ext cx="1280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联邦层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737360" y="2414016"/>
            <a:ext cx="7040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74520" y="2414016"/>
            <a:ext cx="67665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VFL 垂直切分特征 · 主动方/被动方协同 · 顶层聚合模型 · 通信成本统计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3099816"/>
            <a:ext cx="0" cy="118872"/>
          </a:xfrm>
          <a:prstGeom prst="line">
            <a:avLst/>
          </a:prstGeom>
          <a:noFill/>
          <a:ln w="25400">
            <a:solidFill>
              <a:srgbClr val="14A9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218688"/>
            <a:ext cx="1280160" cy="6858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218688"/>
            <a:ext cx="1280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隐私层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737360" y="3218688"/>
            <a:ext cx="7040880" cy="685800"/>
          </a:xfrm>
          <a:prstGeom prst="rect">
            <a:avLst/>
          </a:prstGeom>
          <a:solidFill>
            <a:srgbClr val="EEF4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74520" y="3218688"/>
            <a:ext cx="67665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PrivBox：秘密共享 + 高斯差分隐私噪声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51560" y="3904488"/>
            <a:ext cx="0" cy="118872"/>
          </a:xfrm>
          <a:prstGeom prst="line">
            <a:avLst/>
          </a:prstGeom>
          <a:noFill/>
          <a:ln w="25400">
            <a:solidFill>
              <a:srgbClr val="14A9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023360"/>
            <a:ext cx="128016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4023360"/>
            <a:ext cx="1280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737360" y="4023360"/>
            <a:ext cx="7040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874520" y="4023360"/>
            <a:ext cx="67665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GUI 实时监控 · 吞吐统计 · 分类分布 · 攻击模拟 (DoS/Probe/R2L/U2R)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03  系统整体架构</a:t>
            </a:r>
            <a:endParaRPr lang="en-US" sz="2200" dirty="0"/>
          </a:p>
        </p:txBody>
      </p:sp>
      <p:sp>
        <p:nvSpPr>
          <p:cNvPr id="30" name="Text 2"/>
          <p:cNvSpPr/>
          <p:nvPr/>
        </p:nvSpPr>
        <p:spPr>
          <a:xfrm>
            <a:off x="3246120" y="1011555"/>
            <a:ext cx="2945765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系统整体</a:t>
            </a:r>
            <a:r>
              <a:rPr lang="zh-CN" alt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数据流程图</a:t>
            </a:r>
            <a:endParaRPr lang="zh-CN" altLang="en-US" sz="2200" b="1" dirty="0">
              <a:solidFill>
                <a:srgbClr val="1A2C5B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pic>
        <p:nvPicPr>
          <p:cNvPr id="7" name="图片 6" descr="流程图.drawi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9585" y="1798320"/>
            <a:ext cx="8459470" cy="2138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04  WOA 超参数优化算法推导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5029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777240"/>
            <a:ext cx="5029200" cy="347472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77240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算法原理与数学推导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07008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① 优化目标函数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   其中超参集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267712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② 包围猎物（位置更新）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798064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   控制参数计算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328416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③ 螺旋更新位置（气泡捕食）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858768"/>
            <a:ext cx="4754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④ 随机搜索（全局探索）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23560" y="777240"/>
            <a:ext cx="3200400" cy="4160520"/>
          </a:xfrm>
          <a:prstGeom prst="rect">
            <a:avLst/>
          </a:prstGeom>
          <a:solidFill>
            <a:srgbClr val="1E2D40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23560" y="777240"/>
            <a:ext cx="32004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77724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WOA 伪代码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0" y="1188720"/>
            <a:ext cx="310896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初始化鲸鱼种群 X[i] (i=1..N)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计算适应度 F[i] = f(X[i], 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θ_best ← X[argmin F]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iter in range(MaxIter):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for i in range(N):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更新 a, A, 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 = random()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p &lt; 0.5: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if |A| &lt; 1: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// 包围猎物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X[i] = X_best - A·|C·X_best - X[i]|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else: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// 随机搜索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X[i] = X_rand - A·|C·X_rand - X[i]|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else: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// 螺旋更新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X[i] = D'·e^(bl)·cos(2πl) + X_best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F[i] = f(X[i], 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F[i] &lt; F_best: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θ_best = X[i]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 θ_best</a:t>
            </a:r>
            <a:endParaRPr lang="en-US" sz="85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780" y="1363345"/>
            <a:ext cx="1636395" cy="32702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925320"/>
            <a:ext cx="1481455" cy="30162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80" y="2453005"/>
            <a:ext cx="3284855" cy="28321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964180"/>
            <a:ext cx="938530" cy="36957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780" y="3495675"/>
            <a:ext cx="1744345" cy="38417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780" y="4043045"/>
            <a:ext cx="2708910" cy="3314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04  CNN + LSTM 时空特征建模推导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402336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04672"/>
            <a:ext cx="4023360" cy="347472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CNN 空间特征提取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25296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数据归一化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卷积操作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249424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       其中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761488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ReLU激活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273552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最大池化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785616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全连接输出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特征融合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804672"/>
            <a:ext cx="416052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804672"/>
            <a:ext cx="41605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804672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LSTM 时序特征建模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1225296"/>
            <a:ext cx="3886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遗忘门 (Forget Gate)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1399032"/>
            <a:ext cx="3794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37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fₜ = σ(W_f · [hₜ₋₁, xₜ] + b_f)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1737360"/>
            <a:ext cx="3886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输入门 (Input Gate)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2249424"/>
            <a:ext cx="3886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输出门 (Output Gate)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2761488"/>
            <a:ext cx="3886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候选细胞状态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3273552"/>
            <a:ext cx="3886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细胞状态更新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00600" y="3785616"/>
            <a:ext cx="3886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隐藏状态输出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00600" y="4297680"/>
            <a:ext cx="3886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最终预测输出</a:t>
            </a:r>
            <a:endParaRPr lang="en-US" sz="1000" dirty="0"/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4740" y="1390015"/>
            <a:ext cx="1922145" cy="32766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430" y="1875790"/>
            <a:ext cx="1984375" cy="373380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430" y="2407285"/>
            <a:ext cx="1810385" cy="267970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430" y="2972435"/>
            <a:ext cx="2016760" cy="25400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740" y="3971290"/>
            <a:ext cx="1751330" cy="290195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4740" y="3455035"/>
            <a:ext cx="1885315" cy="293370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4430" y="4462145"/>
            <a:ext cx="1541145" cy="360045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135" y="1385570"/>
            <a:ext cx="668655" cy="292100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135" y="1965325"/>
            <a:ext cx="1419860" cy="234950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210" y="2407285"/>
            <a:ext cx="2280920" cy="346710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135" y="2913380"/>
            <a:ext cx="1182370" cy="31305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500" y="3463290"/>
            <a:ext cx="1420495" cy="287655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500" y="3957320"/>
            <a:ext cx="1695450" cy="317500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9135" y="4472305"/>
            <a:ext cx="270256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04  CNN + LSTM 时空特征建模推导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663440" y="804672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LSTM 时序特征建模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02920" y="575818"/>
            <a:ext cx="8412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CNN 结构图（卷积→池化→展平）                                              </a:t>
            </a:r>
            <a:endParaRPr lang="en-US" sz="1000" dirty="0"/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515" y="810260"/>
            <a:ext cx="8833485" cy="1922145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973455" y="2793873"/>
            <a:ext cx="8412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LSTM 门控单元示意图</a:t>
            </a:r>
            <a:endParaRPr lang="en-US" sz="1000" dirty="0"/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145" y="2902585"/>
            <a:ext cx="3775710" cy="22548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04  垂直联邦学习 (VFL) + PrivBox</a:t>
            </a:r>
            <a:r>
              <a:rPr lang="zh-CN" alt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隐私保护</a:t>
            </a: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算法推导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545"/>
            <a:ext cx="4161155" cy="40963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11480" y="804545"/>
            <a:ext cx="4161790" cy="347345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545"/>
            <a:ext cx="4162425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垂直联邦学习</a:t>
            </a: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数学推导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25296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第 k 方底层嵌入（Local Embedding）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819656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服务器拼接嵌入（Feature Concatenation）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414016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顶层分类（Top Model）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008376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损失函数（Cross Entropy）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602736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梯度反传到各方（Gradient Slicing）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197096"/>
            <a:ext cx="5029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参数更新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1207008"/>
            <a:ext cx="2651760" cy="3611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【秘密共享】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将梯度 g 分为 K 份：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850" dirty="0">
              <a:solidFill>
                <a:srgbClr val="A8D8E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g = s₁ + s₂ + ... + sK</a:t>
            </a:r>
            <a:endParaRPr lang="en-US" sz="850" dirty="0"/>
          </a:p>
          <a:p>
            <a:pPr marL="0" indent="0">
              <a:buNone/>
            </a:pPr>
            <a:endParaRPr lang="en-US" sz="850" dirty="0">
              <a:solidFill>
                <a:srgbClr val="A8D8E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每方只获得自己的份额 sₖ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【差分隐私 — 高斯机制】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在梯度上添加噪声：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g̃ = g + N(0, σ²I)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噪声标准差计算：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σ = √(2ln(1.25/δ)) · Δ/ε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参数含义：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ε — 隐私预算 (越小越私密)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δ — 失败概率上界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Δ — 查询敏感度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【隐私保证】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满足 (ε, δ)-差分隐私定义：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Pr[M(D)∈S] ≤ eᵉ·Pr[M(D')∈S]+δ</a:t>
            </a:r>
            <a:endParaRPr lang="en-US" sz="85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605" y="1400810"/>
            <a:ext cx="1389380" cy="39560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" y="2038985"/>
            <a:ext cx="2362200" cy="33845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05" y="2640965"/>
            <a:ext cx="1013460" cy="34671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05" y="3234690"/>
            <a:ext cx="3484880" cy="29400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96665"/>
            <a:ext cx="1343025" cy="39052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401185"/>
            <a:ext cx="1425575" cy="313690"/>
          </a:xfrm>
          <a:prstGeom prst="rect">
            <a:avLst/>
          </a:prstGeom>
        </p:spPr>
      </p:pic>
      <p:sp>
        <p:nvSpPr>
          <p:cNvPr id="50" name="Shape 27"/>
          <p:cNvSpPr/>
          <p:nvPr/>
        </p:nvSpPr>
        <p:spPr>
          <a:xfrm>
            <a:off x="4663440" y="804545"/>
            <a:ext cx="4160520" cy="409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28"/>
          <p:cNvSpPr/>
          <p:nvPr/>
        </p:nvSpPr>
        <p:spPr>
          <a:xfrm>
            <a:off x="4663440" y="804672"/>
            <a:ext cx="41605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2" name="Text 29"/>
          <p:cNvSpPr/>
          <p:nvPr/>
        </p:nvSpPr>
        <p:spPr>
          <a:xfrm>
            <a:off x="4663440" y="804672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  <a:sym typeface="+mn-ea"/>
              </a:rPr>
              <a:t>PrivBox 隐私保护</a:t>
            </a:r>
            <a:endParaRPr lang="en-US" sz="1300" dirty="0"/>
          </a:p>
        </p:txBody>
      </p:sp>
      <p:sp>
        <p:nvSpPr>
          <p:cNvPr id="53" name="Text 30"/>
          <p:cNvSpPr/>
          <p:nvPr/>
        </p:nvSpPr>
        <p:spPr>
          <a:xfrm>
            <a:off x="4663440" y="1225296"/>
            <a:ext cx="3886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秘密共享</a:t>
            </a: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 (</a:t>
            </a:r>
            <a:r>
              <a:rPr lang="en-US" sz="10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Secret Sharing)</a:t>
            </a:r>
            <a:endParaRPr lang="en-US" sz="1000" dirty="0"/>
          </a:p>
        </p:txBody>
      </p:sp>
      <p:sp>
        <p:nvSpPr>
          <p:cNvPr id="55" name="Text 33"/>
          <p:cNvSpPr/>
          <p:nvPr/>
        </p:nvSpPr>
        <p:spPr>
          <a:xfrm>
            <a:off x="4663440" y="1689100"/>
            <a:ext cx="4264025" cy="2698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差分隐私</a:t>
            </a:r>
            <a:r>
              <a:rPr lang="en-US" altLang="zh-CN" sz="10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 – </a:t>
            </a:r>
            <a:r>
              <a:rPr lang="zh-CN" altLang="en-US" sz="10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高斯机制（</a:t>
            </a:r>
            <a:r>
              <a:rPr lang="en-US" altLang="zh-CN" sz="10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Differential Privacy - Gaussian Mechanism</a:t>
            </a:r>
            <a:r>
              <a:rPr lang="zh-CN" altLang="en-US" sz="10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）</a:t>
            </a:r>
            <a:endParaRPr lang="zh-CN" altLang="en-US" sz="1000" b="1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56" name="Text 36"/>
          <p:cNvSpPr/>
          <p:nvPr/>
        </p:nvSpPr>
        <p:spPr>
          <a:xfrm>
            <a:off x="4937760" y="1975739"/>
            <a:ext cx="3886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梯度加噪：</a:t>
            </a:r>
            <a:endParaRPr lang="zh-CN" altLang="en-US" sz="1000" b="1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4430" y="1405255"/>
            <a:ext cx="1619250" cy="305435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6030" y="2157095"/>
            <a:ext cx="1127760" cy="295275"/>
          </a:xfrm>
          <a:prstGeom prst="rect">
            <a:avLst/>
          </a:prstGeom>
        </p:spPr>
      </p:pic>
      <p:sp>
        <p:nvSpPr>
          <p:cNvPr id="70" name="Text 36"/>
          <p:cNvSpPr/>
          <p:nvPr/>
        </p:nvSpPr>
        <p:spPr>
          <a:xfrm>
            <a:off x="4937760" y="2496439"/>
            <a:ext cx="3886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噪声标准差计算：</a:t>
            </a:r>
            <a:endParaRPr lang="zh-CN" altLang="en-US" sz="1000" b="1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71" name="Text 36"/>
          <p:cNvSpPr/>
          <p:nvPr/>
        </p:nvSpPr>
        <p:spPr>
          <a:xfrm>
            <a:off x="4663440" y="3068574"/>
            <a:ext cx="3886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隐私保证（</a:t>
            </a:r>
            <a:r>
              <a:rPr lang="en-US" altLang="zh-CN" sz="10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Privacy Guarantee</a:t>
            </a:r>
            <a:r>
              <a:rPr lang="zh-CN" altLang="en-US" sz="10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）</a:t>
            </a:r>
            <a:endParaRPr lang="zh-CN" altLang="en-US" sz="1000" b="1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7610" y="2650490"/>
            <a:ext cx="1724025" cy="364490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326130"/>
            <a:ext cx="2380615" cy="289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05  核心代码实现 — VFL 训练流程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86130"/>
            <a:ext cx="411480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86130"/>
            <a:ext cx="412432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VFL/federated_learning/vfl_server.py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60704"/>
            <a:ext cx="4114800" cy="3886200"/>
          </a:xfrm>
          <a:prstGeom prst="rect">
            <a:avLst/>
          </a:prstGeom>
          <a:solidFill>
            <a:srgbClr val="1E2D40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15568"/>
            <a:ext cx="3840480" cy="3767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VFL 服务器核心训练逻辑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VFLServer: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 train_round(self, embeddings_list):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embeddings_list: 各方上传的 h^(k)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1. 拼接各方嵌入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z = torch.cat(embeddings_list, dim=1)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2. 顶层分类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logits = self.top_model(z)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loss = F.cross_entropy(logits, self.labels)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3. 反向传播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loss.backward()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4. 切片梯度，分发各方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grads = []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i, emb in enumerate(embeddings_list):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grad = emb.grad.clone()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if self.use_privbox: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grad = self.privbox.add_noise(grad)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grads.append(grad)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self.top_optimizer.step()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grads, loss.item()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786130"/>
            <a:ext cx="4161790" cy="2743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786130"/>
            <a:ext cx="416115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VFL/federated_learning/vfl_client.py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060704"/>
            <a:ext cx="4160520" cy="3886200"/>
          </a:xfrm>
          <a:prstGeom prst="rect">
            <a:avLst/>
          </a:prstGeom>
          <a:solidFill>
            <a:srgbClr val="1E2D40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115568"/>
            <a:ext cx="3886200" cy="3767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VFL 客户端底层模型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VFLClient: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 forward(self, x_local):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x_local: 本方持有的特征子集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底层嵌入 h^(k)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h = self.bottom_model(x_local)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h.retain_grad()  # 保留用于接收服务器梯度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 backward(self, grad_from_server):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"""接收服务器下发的梯度切片"""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self.last_h.backward(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gradient=grad_from_server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self.optimizer.step()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self.optimizer.zero_grad()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特征切分工具 (vfl_utils.py)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split_features(X, n_parties):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"""按列垂直切分特征"""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n_feat = X.shape[1]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chunk = n_feat // n_parties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X[:, i*chunk:(i+1)*chunk]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i in range(n_parties)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]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05  核心代码实现 — CNN-LSTM 模型 &amp; WOA 优化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86130"/>
            <a:ext cx="411099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8613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model/fl_woa_cnn_lstm/cnn_lstm_model.py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60704"/>
            <a:ext cx="4114800" cy="3886200"/>
          </a:xfrm>
          <a:prstGeom prst="rect">
            <a:avLst/>
          </a:prstGeom>
          <a:solidFill>
            <a:srgbClr val="1E2D40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15568"/>
            <a:ext cx="3840480" cy="3767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CNNLSTMModel(nn.Module):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 __init__(self, input_dim, hidden_n,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num_classes, dropout=0.3):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super().__init__()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CNN 空间特征提取模块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self.cnn = nn.Sequential(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nn.Conv1d(1, 32, kernel_size=3, padding=1),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nn.ReLU(),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nn.MaxPool1d(2),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nn.Conv1d(32, 64, kernel_size=3, padding=1),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nn.ReLU(),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nn.MaxPool1d(2),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cnn_out = input_dim // 4 * 64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LSTM 时序特征建模模块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self.lstm = nn.LSTM(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input_size=cnn_out,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hidden_size=hidden_n,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num_layers=2,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batch_first=True,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dropout=dropout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分类头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self.fc = nn.Sequential(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nn.Linear(hidden_n, num_classes),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nn.Softmax(dim=-1)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 forward(self, x):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x: (B, seq_len, feat)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x = x.unsqueeze(1)          # → (B,1,feat)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x = self.cnn(x)             # 空间特征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x = x.view(x.size(0),1,-1) # 展平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out, _ = self.lstm(x)       # 时序建模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self.fc(out[:,-1,:]) # 最后时间步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786130"/>
            <a:ext cx="4163060" cy="2743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78638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WOA 超参数搜索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060704"/>
            <a:ext cx="4160520" cy="3886200"/>
          </a:xfrm>
          <a:prstGeom prst="rect">
            <a:avLst/>
          </a:prstGeom>
          <a:solidFill>
            <a:srgbClr val="1E2D40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115568"/>
            <a:ext cx="3886200" cy="3767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woa_optimize(D, max_iter=50, N=32):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"""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D: 训练数据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N: 鲸鱼数量（搜索代理）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返回最优超参 θ_best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"""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# 搜索空间定义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BOUNDS =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'lr':      (1e-3, 1e-2),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'hidden_n':(10,   30  ),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'l2':      (1e-4, 1e-1),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# 初始化鲸鱼种群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X = init_population(N, BOUNDS)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 = [fitness(x, D) for x in X]  # 验证集损失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best_idx = np.argmin(F)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X_best = X[best_idx].copy()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for t in range(max_iter):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 = 2 - 2 * t / max_iter  # 线性衰减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i in range(N):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A = 2*a*random() - a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C = 2 * random()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p = random()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if p &lt; 0.5: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abs(A) &lt; 1: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# 包围猎物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D_ = abs(C*X_best - X[i])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X[i] = X_best - A * D_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else: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# 随机搜索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j = randint(0, N)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D_ = abs(C*X[j] - X[i])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X[i] = X[j] - A * D_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else: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# 螺旋更新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l = uniform(-1, 1)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D_ = abs(X_best - X[i])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X[i] = D_*exp(b*l)*cos(2π*l)+X_best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X[i] = clip(X[i], BOUNDS)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fi = fitness(X[i], D)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if fi &lt; F[best_idx]: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X_best = X[i].copy()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return X_best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05  核心代码实现 — 实时检测 &amp; PrivBox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786130"/>
            <a:ext cx="4120515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86130"/>
            <a:ext cx="4109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VFL/hybrid_detector.py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60704"/>
            <a:ext cx="4114800" cy="3886200"/>
          </a:xfrm>
          <a:prstGeom prst="rect">
            <a:avLst/>
          </a:prstGeom>
          <a:solidFill>
            <a:srgbClr val="1E2D40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15568"/>
            <a:ext cx="3840480" cy="3767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HybridDetector: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"""ML 优先 + 规则兜底的混合检测策略"""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RULES =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'dos':   lambda f: f['dst_bytes'] &gt; 5e6,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'probe': lambda f: f['num_failed_logins'] &gt; 5,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'r2l':   lambda f: f['logged_in'] == 0,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 detect(self, features: dict) -&gt; str: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1. 规则引擎快速过滤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label, rule in self.RULES.items():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if rule(features):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label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2. ML 模型精细分类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x = self.preprocessor.transform(features)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x_tensor = torch.FloatTensor(x).unsqueeze(0)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with torch.no_grad():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logits = self.model(x_tensor)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prob, pred = logits.max(dim=1)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3. 置信度兜底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prob.item() &lt; self.threshold: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return "unknown"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self.label_map[pred.item()]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VFL/flow_tracker.py — 连接级统计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FlowTracker: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 update(self, pkt):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"""提取流量统计特征"""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key = (pkt.src, pkt.dst, pkt.dport)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flow = self.flows[key]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flow['pkt_count'] += 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flow['byte_count'] += len(pkt)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flow['duration'] = time() - flow['start']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self._extract_features(flow)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786130"/>
            <a:ext cx="4159885" cy="2743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786130"/>
            <a:ext cx="4160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VFL/federated_learning/privbox.py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060704"/>
            <a:ext cx="4160520" cy="3886200"/>
          </a:xfrm>
          <a:prstGeom prst="rect">
            <a:avLst/>
          </a:prstGeom>
          <a:solidFill>
            <a:srgbClr val="1E2D40"/>
          </a:solidFill>
          <a:ln w="12700">
            <a:solidFill>
              <a:srgbClr val="1A2C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115568"/>
            <a:ext cx="3886200" cy="37673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PrivBox: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"""秘密共享 + 差分隐私双重保护"""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 __init__(self, epsilon=1.0,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delta=1e-5, n_parties=2):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self.epsilon = epsilon   # 隐私预算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self.delta   = delta     # 失败概率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self.K       = n_parties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 _compute_sigma(self, sensitivity):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高斯机制噪声强度计算：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σ = √(2ln(1.25/δ)) · Δ / ε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math.sqrt(2 * math.log(1.25/self.delta))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* sensitivity / self.epsilon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 add_noise(self, gradient):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"""差分隐私噪声注入"""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sensitivity = gradient.norm(2).item()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sigma = self._compute_sigma(sensitivity)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noise = torch.randn_like(gradient) * sigma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gradient + noise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 secret_share(self, secret):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"""Shamir 秘密共享分发"""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s = s₁ + s₂ + ... + sK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shares = [torch.randn_like(secret)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for _ in range(self.K - 1)]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last = secret - sum(shares)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shares.append(last)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shares   # 每方获得一个份额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def reconstruct(self, shares):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"""各方份额汇聚重建"""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sum(shares)  # Σ sₖ = 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06  实验设计与数据集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实验数据集对比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11480" y="1115568"/>
          <a:ext cx="8412480" cy="1316736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645920"/>
                <a:gridCol w="822960"/>
                <a:gridCol w="2103120"/>
                <a:gridCol w="1371600"/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数据集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总记录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正常/攻击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特征数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攻击类型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用途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KDD Cup 99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494,021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97,278 / 396,743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41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DoS/Probe/R2L/U2R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入侵检测基线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UNB ISCX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2,450,324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2,381,532 / 68,792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多维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正常+攻击混合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流量预测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CIC-IDS2018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约200万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多类别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80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暴力/DDoS/僵尸网络等7类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FL检测评估</a:t>
                      </a:r>
                      <a:endParaRPr lang="en-US" sz="11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237744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评估指标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269748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2697480"/>
            <a:ext cx="2057400" cy="320040"/>
          </a:xfrm>
          <a:prstGeom prst="rect">
            <a:avLst/>
          </a:prstGeom>
          <a:solidFill>
            <a:srgbClr val="1A2C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69748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准确率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(AC)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3090672"/>
            <a:ext cx="1874520" cy="502920"/>
          </a:xfrm>
          <a:prstGeom prst="rect">
            <a:avLst/>
          </a:prstGeom>
          <a:solidFill>
            <a:srgbClr val="EE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099816"/>
            <a:ext cx="187452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37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 = (TP+TN) / (TP+TN+FP+FN)</a:t>
            </a:r>
            <a:endParaRPr lang="en-US" sz="1000" dirty="0"/>
          </a:p>
        </p:txBody>
      </p:sp>
      <p:sp>
        <p:nvSpPr>
          <p:cNvPr id="6" name="Shape 10"/>
          <p:cNvSpPr/>
          <p:nvPr/>
        </p:nvSpPr>
        <p:spPr>
          <a:xfrm>
            <a:off x="2587752" y="269748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87752" y="2697480"/>
            <a:ext cx="2057400" cy="320040"/>
          </a:xfrm>
          <a:prstGeom prst="rect">
            <a:avLst/>
          </a:prstGeom>
          <a:solidFill>
            <a:srgbClr val="1A2C5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87752" y="269748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检测率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(DR)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679192" y="3090672"/>
            <a:ext cx="1874520" cy="502920"/>
          </a:xfrm>
          <a:prstGeom prst="rect">
            <a:avLst/>
          </a:prstGeom>
          <a:solidFill>
            <a:srgbClr val="EE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79192" y="3099816"/>
            <a:ext cx="187452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37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DR = TP / (TP + FN)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64024" y="269748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64024" y="2697480"/>
            <a:ext cx="20574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64024" y="269748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误报率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(FA)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55464" y="3090672"/>
            <a:ext cx="1874520" cy="502920"/>
          </a:xfrm>
          <a:prstGeom prst="rect">
            <a:avLst/>
          </a:prstGeom>
          <a:solidFill>
            <a:srgbClr val="EE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55464" y="3099816"/>
            <a:ext cx="187452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37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 = FP / (TN + FP)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40296" y="269748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40296" y="2697480"/>
            <a:ext cx="20574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0296" y="269748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F1 分数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031736" y="3090672"/>
            <a:ext cx="1874520" cy="502920"/>
          </a:xfrm>
          <a:prstGeom prst="rect">
            <a:avLst/>
          </a:prstGeom>
          <a:solidFill>
            <a:srgbClr val="EE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31736" y="3099816"/>
            <a:ext cx="1874520" cy="4846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37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F1 = 2PR / (P + R)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11480" y="384048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实验环境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11480" y="4133088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Python 3.10 + PyTorch 2.x  |  </a:t>
            </a: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NVIDIA 5060ti GPU  |  </a:t>
            </a: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KDD训练集70%/测试集30%  |  </a:t>
            </a: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VFL: 3客户端, η=0.01, 100轮  |  </a:t>
            </a:r>
            <a:r>
              <a:rPr lang="en-US" sz="12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WOA: 50次迭代, 32个搜索代理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-12065"/>
            <a:ext cx="8869680" cy="76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06  实验结果</a:t>
            </a:r>
            <a:r>
              <a:rPr lang="zh-CN" alt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展示</a:t>
            </a:r>
            <a:endParaRPr lang="zh-CN" altLang="en-US" sz="2200" b="1" dirty="0">
              <a:solidFill>
                <a:srgbClr val="1A2C5B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流量预测任务 — UNB ISCX 数据集各模型性能对比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11480" y="1115568"/>
          <a:ext cx="8412480" cy="2176272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371600"/>
                <a:gridCol w="2286000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算法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MAE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RMSE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MAPE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vs CNN-LSTM (MAE↓)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CNN-LSTM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0.1540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0.1349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3.857%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CNN-BiLSTM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0.1256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0.1257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3.692%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18.4%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CNN-GRU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0.0964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0.0965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2.721%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37.4%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PSO-SVR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0.0658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0.0818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2.051%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57.3%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PSO-LSSVM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0.0492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0.0513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1.602%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68.1%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WOA-CNN-LSTM★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0.0294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0.0415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1.045%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7377"/>
                          </a:solidFill>
                          <a:latin typeface="微软雅黑" pitchFamily="34" charset="-122"/>
                          <a:ea typeface="微软雅黑" pitchFamily="34" charset="-122"/>
                          <a:cs typeface="微软雅黑" pitchFamily="34" charset="-120"/>
                        </a:rPr>
                        <a:t>80.9%↑</a:t>
                      </a:r>
                      <a:endParaRPr lang="en-US" sz="1200" dirty="0">
                        <a:latin typeface="微软雅黑" pitchFamily="34" charset="-122"/>
                        <a:ea typeface="微软雅黑" pitchFamily="34" charset="-122"/>
                        <a:cs typeface="微软雅黑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32867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入侵检测任务 — 联邦学习 vs 集中式 (KDD C</a:t>
            </a:r>
            <a:r>
              <a:rPr 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up 99)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3610483"/>
            <a:ext cx="8412480" cy="347472"/>
          </a:xfrm>
          <a:prstGeom prst="rect">
            <a:avLst/>
          </a:prstGeom>
          <a:solidFill>
            <a:srgbClr val="E6F4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602990"/>
            <a:ext cx="8420735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FL-CNN-LSTM（本方案）        </a:t>
            </a:r>
            <a:r>
              <a:rPr lang="en-US" sz="1100" b="1" dirty="0">
                <a:solidFill>
                  <a:srgbClr val="0D7377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Acc: 99.00%   F1: 99.01%   </a:t>
            </a:r>
            <a:r>
              <a:rPr lang="en-US" sz="1000" i="1" dirty="0">
                <a:solidFill>
                  <a:srgbClr val="64748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隐私保护，数据不离本地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8465" y="3956685"/>
            <a:ext cx="8405495" cy="325755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965575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集中式 CNN-LSTM            </a:t>
            </a:r>
            <a:r>
              <a:rPr lang="en-US" sz="1100" b="1" dirty="0">
                <a:solidFill>
                  <a:srgbClr val="0D7377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Acc: 99.08%   F1: 99.14%   </a:t>
            </a:r>
            <a:r>
              <a:rPr lang="en-US" sz="1000" i="1" dirty="0">
                <a:solidFill>
                  <a:srgbClr val="64748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无隐私保护，数据集中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4274312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4270502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串联结构（对比）                </a:t>
            </a:r>
            <a:r>
              <a:rPr lang="en-US" sz="1100" b="1" dirty="0">
                <a:solidFill>
                  <a:srgbClr val="0D7377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Acc: 6.63%   F1: 0.86%   </a:t>
            </a:r>
            <a:r>
              <a:rPr lang="en-US" sz="1000" i="1" dirty="0">
                <a:solidFill>
                  <a:srgbClr val="64748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并联结构远优于串联</a:t>
            </a:r>
            <a:endParaRPr lang="en-US" sz="1100" dirty="0"/>
          </a:p>
        </p:txBody>
      </p:sp>
      <p:sp>
        <p:nvSpPr>
          <p:cNvPr id="6" name="Shape 11"/>
          <p:cNvSpPr/>
          <p:nvPr/>
        </p:nvSpPr>
        <p:spPr>
          <a:xfrm>
            <a:off x="411480" y="4621784"/>
            <a:ext cx="841248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4617974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无注意力机制（对比）              </a:t>
            </a:r>
            <a:r>
              <a:rPr lang="en-US" sz="1100" b="1" dirty="0">
                <a:solidFill>
                  <a:srgbClr val="0D7377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Acc: 98.66%   F1: 98.66%   </a:t>
            </a:r>
            <a:r>
              <a:rPr lang="en-US" sz="1000" i="1" dirty="0">
                <a:solidFill>
                  <a:srgbClr val="64748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多头注意力提升 0.34%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-12065"/>
            <a:ext cx="8869680" cy="76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06  实验结果</a:t>
            </a:r>
            <a:r>
              <a:rPr lang="zh-CN" alt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展示</a:t>
            </a:r>
            <a:endParaRPr lang="zh-CN" altLang="en-US" sz="2200" b="1" dirty="0">
              <a:solidFill>
                <a:srgbClr val="1A2C5B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11480" y="4937760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7" name="内容占位符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70580" y="276225"/>
            <a:ext cx="2705735" cy="210502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0" y="2213610"/>
            <a:ext cx="2766695" cy="215328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5490" y="2552065"/>
            <a:ext cx="2846705" cy="221488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820" y="2077085"/>
            <a:ext cx="2863215" cy="2226945"/>
          </a:xfrm>
          <a:prstGeom prst="rect">
            <a:avLst/>
          </a:prstGeom>
        </p:spPr>
      </p:pic>
      <p:sp>
        <p:nvSpPr>
          <p:cNvPr id="21" name="Text 3"/>
          <p:cNvSpPr/>
          <p:nvPr/>
        </p:nvSpPr>
        <p:spPr>
          <a:xfrm>
            <a:off x="411480" y="640207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母模型与子模型训练</a:t>
            </a:r>
            <a:r>
              <a:rPr 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数据</a:t>
            </a:r>
            <a:r>
              <a:rPr lang="zh-CN" alt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结果</a:t>
            </a:r>
            <a:r>
              <a:rPr lang="zh-CN" alt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矩阵图</a:t>
            </a:r>
            <a:endParaRPr lang="zh-CN" altLang="en-US" sz="1400" b="1" dirty="0">
              <a:solidFill>
                <a:srgbClr val="1A2C5B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-12065"/>
            <a:ext cx="8869680" cy="76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06  实验结果</a:t>
            </a:r>
            <a:r>
              <a:rPr lang="zh-CN" alt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展示</a:t>
            </a:r>
            <a:endParaRPr lang="zh-CN" altLang="en-US" sz="2200" b="1" dirty="0">
              <a:solidFill>
                <a:srgbClr val="1A2C5B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11480" y="4937760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7" name="内容占位符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1480" y="1648460"/>
            <a:ext cx="4012565" cy="3181985"/>
          </a:xfrm>
          <a:prstGeom prst="rect">
            <a:avLst/>
          </a:prstGeom>
        </p:spPr>
      </p:pic>
      <p:pic>
        <p:nvPicPr>
          <p:cNvPr id="18" name="内容占位符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424045" y="1640840"/>
            <a:ext cx="4650105" cy="3189605"/>
          </a:xfrm>
          <a:prstGeom prst="rect">
            <a:avLst/>
          </a:prstGeom>
        </p:spPr>
      </p:pic>
      <p:sp>
        <p:nvSpPr>
          <p:cNvPr id="21" name="Text 3"/>
          <p:cNvSpPr/>
          <p:nvPr/>
        </p:nvSpPr>
        <p:spPr>
          <a:xfrm>
            <a:off x="571500" y="718947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程序运行结果</a:t>
            </a:r>
            <a:r>
              <a:rPr lang="zh-CN" alt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图</a:t>
            </a:r>
            <a:endParaRPr lang="zh-CN" altLang="en-US" sz="1400" b="1" dirty="0">
              <a:solidFill>
                <a:srgbClr val="1A2C5B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9" name="Text 3"/>
          <p:cNvSpPr/>
          <p:nvPr/>
        </p:nvSpPr>
        <p:spPr>
          <a:xfrm>
            <a:off x="1781810" y="1052830"/>
            <a:ext cx="146367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命令行</a:t>
            </a:r>
            <a:endParaRPr lang="zh-CN" altLang="en-US" sz="1400" b="1" dirty="0">
              <a:solidFill>
                <a:srgbClr val="1A2C5B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0" name="Text 3"/>
          <p:cNvSpPr/>
          <p:nvPr/>
        </p:nvSpPr>
        <p:spPr>
          <a:xfrm>
            <a:off x="6342380" y="1179830"/>
            <a:ext cx="146367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4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GUI</a:t>
            </a:r>
            <a:endParaRPr lang="en-US" altLang="zh-CN" sz="1400" b="1" dirty="0">
              <a:solidFill>
                <a:srgbClr val="1A2C5B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-12065"/>
            <a:ext cx="8869680" cy="76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06  实验结果</a:t>
            </a:r>
            <a:r>
              <a:rPr lang="zh-CN" alt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展示</a:t>
            </a:r>
            <a:endParaRPr lang="zh-CN" altLang="en-US" sz="2200" b="1" dirty="0">
              <a:solidFill>
                <a:srgbClr val="1A2C5B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正常流量</a:t>
            </a: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识别</a:t>
            </a:r>
            <a:endParaRPr lang="zh-CN" altLang="en-US" sz="1300" b="1" dirty="0">
              <a:solidFill>
                <a:srgbClr val="1A2C5B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11480" y="4937760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7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55800" y="640080"/>
            <a:ext cx="5506085" cy="101028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78330"/>
            <a:ext cx="2963545" cy="2783205"/>
          </a:xfrm>
          <a:prstGeom prst="rect">
            <a:avLst/>
          </a:prstGeom>
        </p:spPr>
      </p:pic>
      <p:pic>
        <p:nvPicPr>
          <p:cNvPr id="19" name="内容占位符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52850" y="1768475"/>
            <a:ext cx="4494530" cy="31692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-12065"/>
            <a:ext cx="8869680" cy="76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06  实验结果</a:t>
            </a:r>
            <a:r>
              <a:rPr lang="zh-CN" alt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展示</a:t>
            </a:r>
            <a:endParaRPr lang="zh-CN" altLang="en-US" sz="2200" b="1" dirty="0">
              <a:solidFill>
                <a:srgbClr val="1A2C5B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Dos</a:t>
            </a: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流量</a:t>
            </a: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识别</a:t>
            </a:r>
            <a:endParaRPr lang="zh-CN" altLang="en-US" sz="1300" b="1" dirty="0">
              <a:solidFill>
                <a:srgbClr val="1A2C5B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11480" y="4937760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7" name="内容占位符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1480" y="2727960"/>
            <a:ext cx="4053205" cy="866140"/>
          </a:xfrm>
          <a:prstGeom prst="rect">
            <a:avLst/>
          </a:prstGeom>
        </p:spPr>
      </p:pic>
      <p:pic>
        <p:nvPicPr>
          <p:cNvPr id="18" name="内容占位符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03070" y="964565"/>
            <a:ext cx="7034530" cy="579755"/>
          </a:xfrm>
          <a:prstGeom prst="rect">
            <a:avLst/>
          </a:prstGeom>
        </p:spPr>
      </p:pic>
      <p:pic>
        <p:nvPicPr>
          <p:cNvPr id="19" name="内容占位符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69130" y="1705610"/>
            <a:ext cx="4478655" cy="31248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-12065"/>
            <a:ext cx="8869680" cy="76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06  实验结果</a:t>
            </a:r>
            <a:r>
              <a:rPr lang="zh-CN" alt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展示</a:t>
            </a:r>
            <a:endParaRPr lang="zh-CN" altLang="en-US" sz="2200" b="1" dirty="0">
              <a:solidFill>
                <a:srgbClr val="1A2C5B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11480" y="4937760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7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1480" y="1647190"/>
            <a:ext cx="3893185" cy="2169795"/>
          </a:xfrm>
          <a:prstGeom prst="rect">
            <a:avLst/>
          </a:prstGeom>
        </p:spPr>
      </p:pic>
      <p:pic>
        <p:nvPicPr>
          <p:cNvPr id="18" name="内容占位符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318635" y="1413510"/>
            <a:ext cx="4618355" cy="3205480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411480" y="804672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Probe</a:t>
            </a: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流量</a:t>
            </a: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识别</a:t>
            </a:r>
            <a:endParaRPr lang="zh-CN" altLang="en-US" sz="1300" b="1" dirty="0">
              <a:solidFill>
                <a:srgbClr val="1A2C5B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-12065"/>
            <a:ext cx="8869680" cy="76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06  实验结果</a:t>
            </a:r>
            <a:r>
              <a:rPr lang="zh-CN" alt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展示</a:t>
            </a:r>
            <a:endParaRPr lang="zh-CN" altLang="en-US" sz="2200" b="1" dirty="0">
              <a:solidFill>
                <a:srgbClr val="1A2C5B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R2L</a:t>
            </a: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流量</a:t>
            </a: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识别</a:t>
            </a:r>
            <a:endParaRPr lang="zh-CN" altLang="en-US" sz="1300" b="1" dirty="0">
              <a:solidFill>
                <a:srgbClr val="1A2C5B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11480" y="4937760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7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68300" y="2132330"/>
            <a:ext cx="3975735" cy="737870"/>
          </a:xfrm>
          <a:prstGeom prst="rect">
            <a:avLst/>
          </a:prstGeom>
        </p:spPr>
      </p:pic>
      <p:pic>
        <p:nvPicPr>
          <p:cNvPr id="18" name="内容占位符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344035" y="1367155"/>
            <a:ext cx="4542790" cy="31559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-12065"/>
            <a:ext cx="8869680" cy="76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06  实验结果</a:t>
            </a:r>
            <a:r>
              <a:rPr lang="zh-CN" alt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展示</a:t>
            </a:r>
            <a:endParaRPr lang="zh-CN" altLang="en-US" sz="2200" b="1" dirty="0">
              <a:solidFill>
                <a:srgbClr val="1A2C5B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流量预测任务 — KDD Cup 99数据集性能</a:t>
            </a: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实际流量预测</a:t>
            </a: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展示</a:t>
            </a:r>
            <a:endParaRPr lang="zh-CN" altLang="en-US" sz="1300" b="1" dirty="0">
              <a:solidFill>
                <a:srgbClr val="1A2C5B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11480" y="4937760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7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8000" y="1533525"/>
            <a:ext cx="4013835" cy="2787650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508000" y="1169035"/>
            <a:ext cx="3997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日常</a:t>
            </a:r>
            <a:r>
              <a:rPr 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预测</a:t>
            </a: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（默认预测</a:t>
            </a:r>
            <a:r>
              <a:rPr lang="en-US" altLang="zh-CN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probe</a:t>
            </a: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）</a:t>
            </a:r>
            <a:endParaRPr lang="zh-CN" altLang="en-US" sz="1300" b="1" dirty="0">
              <a:solidFill>
                <a:srgbClr val="1A2C5B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0" name="Text 3"/>
          <p:cNvSpPr/>
          <p:nvPr/>
        </p:nvSpPr>
        <p:spPr>
          <a:xfrm>
            <a:off x="4521835" y="1243330"/>
            <a:ext cx="3997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预测</a:t>
            </a: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到</a:t>
            </a:r>
            <a:r>
              <a:rPr lang="en-US" altLang="zh-CN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dos</a:t>
            </a: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（</a:t>
            </a:r>
            <a:r>
              <a:rPr lang="en-US" altLang="zh-CN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MAE</a:t>
            </a: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趋近</a:t>
            </a:r>
            <a:r>
              <a:rPr lang="en-US" altLang="zh-CN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0</a:t>
            </a:r>
            <a:r>
              <a:rPr lang="zh-CN" altLang="en-US" sz="13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）</a:t>
            </a:r>
            <a:endParaRPr lang="zh-CN" altLang="en-US" sz="1300" b="1" dirty="0">
              <a:solidFill>
                <a:srgbClr val="1A2C5B"/>
              </a:solidFill>
              <a:latin typeface="微软雅黑" pitchFamily="34" charset="-122"/>
              <a:ea typeface="微软雅黑" pitchFamily="34" charset="-122"/>
              <a:cs typeface="微软雅黑" pitchFamily="34" charset="-120"/>
            </a:endParaRPr>
          </a:p>
        </p:txBody>
      </p:sp>
      <p:pic>
        <p:nvPicPr>
          <p:cNvPr id="21" name="内容占位符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21835" y="1533525"/>
            <a:ext cx="4017010" cy="27762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C5B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07  当前进展与后续计划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04672"/>
            <a:ext cx="4069080" cy="347472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4069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✅ 已完成工作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26187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25296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VFL 垂直联邦训练框架完整实现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563624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CNN-LSTM 单机基线模型（model/）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938528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90195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PrivBox 差分隐私+秘密共享组件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276856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24028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KDD Cup 99 数据加载与预处理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15184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578608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数据图像化处理（11×11矩阵）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5351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916936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实时流量捕获与特征提取管道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255264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GUI 实时监控界面（run_monitor_gui）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30168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593592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攻击流量模拟工具（DoS/Probe/R2L）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968496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93192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通信成本统计与基础性能测试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804672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04672"/>
            <a:ext cx="41605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804672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🔲 后续研究方向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0600" y="1261872"/>
            <a:ext cx="182880" cy="1828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84064" y="1225296"/>
            <a:ext cx="3611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WOA 超参数优化集成到 VFL 训练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84064" y="1408176"/>
            <a:ext cx="3611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将 WOA 与 VFL 深度耦合，自动寻优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1719072"/>
            <a:ext cx="182880" cy="1828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84064" y="1682496"/>
            <a:ext cx="3611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多头注意力机制集成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84064" y="1865376"/>
            <a:ext cx="3611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参考 FL- CNN- LSTM 论文增强特征权重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2176272"/>
            <a:ext cx="182880" cy="1828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84064" y="2139696"/>
            <a:ext cx="3611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BiGRU 替换最后 LSTM 层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84064" y="2322576"/>
            <a:ext cx="3611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引入双向建模提升时序捕获能力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2633472"/>
            <a:ext cx="182880" cy="1828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84064" y="2596896"/>
            <a:ext cx="3611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抗噪声数据处理增强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84064" y="2779776"/>
            <a:ext cx="3611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异常值检测 + 噪声过滤流水线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3090672"/>
            <a:ext cx="182880" cy="1828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84064" y="3054096"/>
            <a:ext cx="3611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跨数据集泛化验证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84064" y="3236976"/>
            <a:ext cx="3611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在 Abilene、NSL-KDD、UNSW-NB15 测试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3547872"/>
            <a:ext cx="182880" cy="1828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84064" y="3511296"/>
            <a:ext cx="3611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通信效率优化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84064" y="3694176"/>
            <a:ext cx="3611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压缩梯度传输，降低带宽开销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00600" y="4005072"/>
            <a:ext cx="182880" cy="1828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84064" y="3968496"/>
            <a:ext cx="3611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论文撰写与实验完善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84064" y="4151376"/>
            <a:ext cx="3611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完成完整实验对比与论文初稿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553712"/>
            <a:ext cx="8412480" cy="457200"/>
          </a:xfrm>
          <a:prstGeom prst="rect">
            <a:avLst/>
          </a:prstGeom>
          <a:solidFill>
            <a:srgbClr val="E6F4F1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553712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预期目标：KDD Cup 99 准确率 ≥ 99.4%，MAE 较 </a:t>
            </a:r>
            <a:r>
              <a:rPr lang="zh-CN" altLang="en-US" sz="1200" b="1" dirty="0">
                <a:solidFill>
                  <a:srgbClr val="0D7377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纯</a:t>
            </a:r>
            <a:r>
              <a:rPr lang="en-US" sz="1200" b="1" dirty="0">
                <a:solidFill>
                  <a:srgbClr val="0D7377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CNN-LSTM 降低 ≥ 70%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总结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777240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61872"/>
            <a:ext cx="1645920" cy="411480"/>
          </a:xfrm>
          <a:prstGeom prst="rect">
            <a:avLst/>
          </a:prstGeom>
          <a:solidFill>
            <a:srgbClr val="0D7377">
              <a:alpha val="8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61872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研究问题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1261872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SDN 网络流量时空特征提取 + 隐私保护联合建模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1645920" cy="411480"/>
          </a:xfrm>
          <a:prstGeom prst="rect">
            <a:avLst/>
          </a:prstGeom>
          <a:solidFill>
            <a:srgbClr val="0D7377">
              <a:alpha val="8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核心方法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31720" y="1856232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WOA-CNN-LSTM + VFL + PrivBox 差分隐私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450592"/>
            <a:ext cx="1645920" cy="411480"/>
          </a:xfrm>
          <a:prstGeom prst="rect">
            <a:avLst/>
          </a:prstGeom>
          <a:solidFill>
            <a:srgbClr val="0D7377">
              <a:alpha val="8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50592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关键创新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2450592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垂直联邦学习 × 鲸鱼优化 × 混合实时检测策略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44952"/>
            <a:ext cx="1645920" cy="411480"/>
          </a:xfrm>
          <a:prstGeom prst="rect">
            <a:avLst/>
          </a:prstGeom>
          <a:solidFill>
            <a:srgbClr val="0D7377">
              <a:alpha val="8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44952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初步结果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3044952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流量预测 MAE 较 CNN-LSTM 降低 80.91%，联邦检测准确率 99%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639312"/>
            <a:ext cx="1645920" cy="411480"/>
          </a:xfrm>
          <a:prstGeom prst="rect">
            <a:avLst/>
          </a:prstGeom>
          <a:solidFill>
            <a:srgbClr val="0D7377">
              <a:alpha val="8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39312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代码状态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3639312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微软雅黑" pitchFamily="34" charset="-122"/>
                <a:ea typeface="微软雅黑" pitchFamily="34" charset="-122"/>
                <a:cs typeface="微软雅黑" pitchFamily="34" charset="-120"/>
              </a:rPr>
              <a:t>核心模块已实现：VFL /  训练 /  监控 /  隐私保护 /  攻击模拟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80467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A9AE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感谢各位老师的聆听与指导！</a:t>
            </a:r>
            <a:endParaRPr lang="en-US" sz="2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9386</Words>
  <Application>WPS 演示</Application>
  <PresentationFormat>On-screen Show (16:9)</PresentationFormat>
  <Paragraphs>805</Paragraphs>
  <Slides>25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44" baseType="lpstr">
      <vt:lpstr>Arial</vt:lpstr>
      <vt:lpstr>宋体</vt:lpstr>
      <vt:lpstr>Wingdings</vt:lpstr>
      <vt:lpstr>黑体</vt:lpstr>
      <vt:lpstr>黑体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汉仪中等线KW</vt:lpstr>
      <vt:lpstr>微软雅黑</vt:lpstr>
      <vt:lpstr>Apple Color Emoji</vt:lpstr>
      <vt:lpstr>宋体-简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智算融合网络流量识别与预测机制设计与实现</dc:title>
  <dc:creator>PptxGenJS</dc:creator>
  <dc:subject>PptxGenJS Presentation</dc:subject>
  <cp:lastModifiedBy>lyll</cp:lastModifiedBy>
  <cp:revision>30</cp:revision>
  <dcterms:created xsi:type="dcterms:W3CDTF">2026-03-26T07:23:54Z</dcterms:created>
  <dcterms:modified xsi:type="dcterms:W3CDTF">2026-03-26T07:23:54Z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503A415BDC6193F73DDEC4693657DBDF_43</vt:lpwstr>
  </property>
  <property fmtid="{D5CDD505-2E9C-101B-9397-08002B2CF9AE}" pid="3" name="KSOProductBuildVer">
    <vt:lpwstr>2052-12.1.25205.25205</vt:lpwstr>
  </property>
</Properties>
</file>